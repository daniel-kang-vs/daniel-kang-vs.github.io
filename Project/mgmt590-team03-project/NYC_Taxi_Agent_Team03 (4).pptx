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72" r:id="rId12"/>
    <p:sldId id="274" r:id="rId13"/>
    <p:sldId id="275" r:id="rId14"/>
    <p:sldId id="264" r:id="rId15"/>
    <p:sldId id="273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6D775-094B-02B5-84D4-1A1E5B69C9ED}" v="11" dt="2026-06-11T02:41:27.977"/>
    <p1510:client id="{605AC354-3612-E1B9-AD50-FD6F81EAA0EA}" v="100" dt="2026-06-11T05:57:39.613"/>
    <p1510:client id="{E90A687F-3A34-BD02-815D-01BD5D2310EF}" v="9" dt="2026-06-11T01:38:07.428"/>
    <p1510:client id="{F947CFEB-9D5E-FD65-C02F-F09AE9D6F3F9}" v="37" dt="2026-06-11T06:08:51.610"/>
    <p1510:client id="{FF0EF73B-FE30-9F48-F2F6-18AD77A6762A}" v="98" dt="2026-06-11T02:40:30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009B6-AABC-4BD6-AAAA-B7B545093727}" type="datetimeFigureOut"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C481E-BE1D-48C8-A96E-8D40BDF69A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5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182880" cy="18288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15568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590-037  ·  AI-ENHANCED OPTIMIZATION  ·  TEAM 03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804672" y="2057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</a:t>
            </a:r>
            <a:endParaRPr lang="en-US" sz="500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newsvendor fleet-positioning agent for NYC yellow taxis</a:t>
            </a:r>
            <a:endParaRPr lang="en-US" sz="210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841248" y="4864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to place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42900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3447288" y="4864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zones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03504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289M</a:t>
            </a:r>
            <a:endParaRPr lang="en-US" sz="4000"/>
          </a:p>
        </p:txBody>
      </p:sp>
      <p:sp>
        <p:nvSpPr>
          <p:cNvPr id="11" name="Text 9"/>
          <p:cNvSpPr/>
          <p:nvPr/>
        </p:nvSpPr>
        <p:spPr>
          <a:xfrm>
            <a:off x="6053328" y="4864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analyzed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33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Nguyen  ·  Deniz Nemli  ·  Devansh Bhatt  ·  Daniel Kang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8229600" y="5943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cabs be before riders appear?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640080" y="17051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9AA1AD"/>
                </a:solidFill>
                <a:ea typeface="+mn-lt"/>
                <a:cs typeface="+mn-lt"/>
              </a:rPr>
              <a:t>Decision: how many cabs to stage in each of 263 zones, for each time bucket × day-of-week, before demand is realized.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600">
              <a:solidFill>
                <a:srgbClr val="9AA1AD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>
                <a:solidFill>
                  <a:srgbClr val="9AA1AD"/>
                </a:solidFill>
                <a:latin typeface="Calibri"/>
                <a:ea typeface="Calibri"/>
                <a:cs typeface="Calibri"/>
              </a:rPr>
              <a:t>A fixed fleet must be pre-positioned across the city, ahead of demand being realized. Two ways to be wrong: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425" y="2514600"/>
            <a:ext cx="5257800" cy="2606040"/>
          </a:xfrm>
          <a:prstGeom prst="roundRect">
            <a:avLst>
              <a:gd name="adj" fmla="val 3509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8" y="2862843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97166" y="28815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UNDERAGE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622388" y="37033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cabs</a:t>
            </a:r>
            <a:endParaRPr lang="en-US" sz="2300"/>
          </a:p>
        </p:txBody>
      </p:sp>
      <p:sp>
        <p:nvSpPr>
          <p:cNvPr id="10" name="Text 7"/>
          <p:cNvSpPr/>
          <p:nvPr/>
        </p:nvSpPr>
        <p:spPr>
          <a:xfrm>
            <a:off x="622388" y="42976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go unserved — fares lost to Uber and Lyft.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6748272" y="2514600"/>
            <a:ext cx="5257800" cy="2606040"/>
          </a:xfrm>
          <a:prstGeom prst="roundRect">
            <a:avLst>
              <a:gd name="adj" fmla="val 3509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88036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994392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7159752" y="37033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cabs</a:t>
            </a:r>
            <a:endParaRPr lang="en-US" sz="2300"/>
          </a:p>
        </p:txBody>
      </p:sp>
      <p:sp>
        <p:nvSpPr>
          <p:cNvPr id="15" name="Text 11"/>
          <p:cNvSpPr/>
          <p:nvPr/>
        </p:nvSpPr>
        <p:spPr>
          <a:xfrm>
            <a:off x="7159752" y="42976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sit idle, burning time and operating cost.</a:t>
            </a:r>
            <a:endParaRPr lang="en-US" sz="1600"/>
          </a:p>
        </p:txBody>
      </p:sp>
      <p:sp>
        <p:nvSpPr>
          <p:cNvPr id="16" name="Shape 12"/>
          <p:cNvSpPr/>
          <p:nvPr/>
        </p:nvSpPr>
        <p:spPr>
          <a:xfrm>
            <a:off x="5812116" y="3432854"/>
            <a:ext cx="713232" cy="713232"/>
          </a:xfrm>
          <a:prstGeom prst="ellipse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812116" y="343285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/>
          </a:p>
        </p:txBody>
      </p:sp>
      <p:sp>
        <p:nvSpPr>
          <p:cNvPr id="18" name="Text 14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6E7682"/>
                </a:solidFill>
                <a:latin typeface="Calibri"/>
                <a:ea typeface="Calibri"/>
                <a:cs typeface="Calibri"/>
              </a:rPr>
              <a:t>Without</a:t>
            </a:r>
            <a:r>
              <a:rPr lang="en-US" sz="1500">
                <a:solidFill>
                  <a:srgbClr val="6E7682"/>
                </a:solidFill>
                <a:ea typeface="+mn-lt"/>
                <a:cs typeface="+mn-lt"/>
              </a:rPr>
              <a:t> a model, allocation defaults to judgment, which doesn't scale across 263 zones.</a:t>
            </a:r>
            <a:endParaRPr lang="en-US" sz="150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 into a decision — not just a forecast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51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3432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/>
          </a:p>
        </p:txBody>
      </p:sp>
      <p:sp>
        <p:nvSpPr>
          <p:cNvPr id="8" name="Text 5"/>
          <p:cNvSpPr/>
          <p:nvPr/>
        </p:nvSpPr>
        <p:spPr>
          <a:xfrm>
            <a:off x="1005840" y="33832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900"/>
          </a:p>
        </p:txBody>
      </p:sp>
      <p:sp>
        <p:nvSpPr>
          <p:cNvPr id="9" name="Text 6"/>
          <p:cNvSpPr/>
          <p:nvPr/>
        </p:nvSpPr>
        <p:spPr>
          <a:xfrm>
            <a:off x="1005840" y="3822192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TLC yellow + FHV trips, joined with NYC weather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3140964" y="31546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/>
          </a:p>
        </p:txBody>
      </p:sp>
      <p:sp>
        <p:nvSpPr>
          <p:cNvPr id="11" name="Shape 8"/>
          <p:cNvSpPr/>
          <p:nvPr/>
        </p:nvSpPr>
        <p:spPr>
          <a:xfrm>
            <a:off x="3429000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651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/>
          </a:p>
        </p:txBody>
      </p:sp>
      <p:sp>
        <p:nvSpPr>
          <p:cNvPr id="14" name="Text 10"/>
          <p:cNvSpPr/>
          <p:nvPr/>
        </p:nvSpPr>
        <p:spPr>
          <a:xfrm>
            <a:off x="3794760" y="33832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900"/>
          </a:p>
        </p:txBody>
      </p:sp>
      <p:sp>
        <p:nvSpPr>
          <p:cNvPr id="15" name="Text 11"/>
          <p:cNvSpPr/>
          <p:nvPr/>
        </p:nvSpPr>
        <p:spPr>
          <a:xfrm>
            <a:off x="3794760" y="3822192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latent-demand distribution for every zone and slot</a:t>
            </a:r>
            <a:endParaRPr lang="en-US" sz="1350"/>
          </a:p>
        </p:txBody>
      </p:sp>
      <p:sp>
        <p:nvSpPr>
          <p:cNvPr id="16" name="Text 12"/>
          <p:cNvSpPr/>
          <p:nvPr/>
        </p:nvSpPr>
        <p:spPr>
          <a:xfrm>
            <a:off x="5929884" y="31546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/>
          </a:p>
        </p:txBody>
      </p:sp>
      <p:sp>
        <p:nvSpPr>
          <p:cNvPr id="17" name="Shape 13"/>
          <p:cNvSpPr/>
          <p:nvPr/>
        </p:nvSpPr>
        <p:spPr>
          <a:xfrm>
            <a:off x="6217920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6517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91272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/>
          </a:p>
        </p:txBody>
      </p:sp>
      <p:sp>
        <p:nvSpPr>
          <p:cNvPr id="20" name="Text 15"/>
          <p:cNvSpPr/>
          <p:nvPr/>
        </p:nvSpPr>
        <p:spPr>
          <a:xfrm>
            <a:off x="6583680" y="33832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900"/>
          </a:p>
        </p:txBody>
      </p:sp>
      <p:sp>
        <p:nvSpPr>
          <p:cNvPr id="21" name="Text 16"/>
          <p:cNvSpPr/>
          <p:nvPr/>
        </p:nvSpPr>
        <p:spPr>
          <a:xfrm>
            <a:off x="6583680" y="3822192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Newsvendor allocation under a fixed fleet budget</a:t>
            </a:r>
            <a:endParaRPr lang="en-US" sz="1350"/>
          </a:p>
        </p:txBody>
      </p:sp>
      <p:sp>
        <p:nvSpPr>
          <p:cNvPr id="22" name="Text 17"/>
          <p:cNvSpPr/>
          <p:nvPr/>
        </p:nvSpPr>
        <p:spPr>
          <a:xfrm>
            <a:off x="8718804" y="31546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/>
          </a:p>
        </p:txBody>
      </p:sp>
      <p:sp>
        <p:nvSpPr>
          <p:cNvPr id="23" name="Shape 18"/>
          <p:cNvSpPr/>
          <p:nvPr/>
        </p:nvSpPr>
        <p:spPr>
          <a:xfrm>
            <a:off x="9006840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65176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80192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/>
          </a:p>
        </p:txBody>
      </p:sp>
      <p:sp>
        <p:nvSpPr>
          <p:cNvPr id="26" name="Text 20"/>
          <p:cNvSpPr/>
          <p:nvPr/>
        </p:nvSpPr>
        <p:spPr>
          <a:xfrm>
            <a:off x="9372600" y="33832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900"/>
          </a:p>
        </p:txBody>
      </p:sp>
      <p:sp>
        <p:nvSpPr>
          <p:cNvPr id="27" name="Text 21"/>
          <p:cNvSpPr/>
          <p:nvPr/>
        </p:nvSpPr>
        <p:spPr>
          <a:xfrm>
            <a:off x="9372600" y="3822192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per zone — with the reason for each one</a:t>
            </a:r>
            <a:endParaRPr lang="en-US" sz="1350"/>
          </a:p>
        </p:txBody>
      </p:sp>
      <p:sp>
        <p:nvSpPr>
          <p:cNvPr id="28" name="Text 2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analytics pipelines stop at prediction. </a:t>
            </a:r>
            <a:r>
              <a:rPr lang="en-US" sz="1700" b="1" i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prescribes.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newsvendor balance, zone by zone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trades off the cost of a missed rider against the cost of an idle cab. Solve that trade-off everywhere, under one shared fleet budget.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Underage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fare from an unserved rider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46120" y="320040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342900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42900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idle cab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fractile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34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Cu / ( Cu + Co )</a:t>
            </a:r>
            <a:endParaRPr lang="en-US" sz="3400"/>
          </a:p>
        </p:txBody>
      </p:sp>
      <p:sp>
        <p:nvSpPr>
          <p:cNvPr id="17" name="Text 15"/>
          <p:cNvSpPr/>
          <p:nvPr/>
        </p:nvSpPr>
        <p:spPr>
          <a:xfrm>
            <a:off x="6583680" y="3657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each zone to its τ-quantile of demand.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583680" y="4160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High-fare zones — JFK, LaGuardia, Midtown — earn proportionally more cabs.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come from observed fares; the optimizer faithfully executes whatever τ it is given.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real NYC trip data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500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494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taxi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1463040" y="2596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trips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640080" y="3136392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832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282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FHV (Uber / Lyft)</a:t>
            </a:r>
            <a:endParaRPr lang="en-US" sz="1600"/>
          </a:p>
        </p:txBody>
      </p:sp>
      <p:sp>
        <p:nvSpPr>
          <p:cNvPr id="12" name="Text 8"/>
          <p:cNvSpPr/>
          <p:nvPr/>
        </p:nvSpPr>
        <p:spPr>
          <a:xfrm>
            <a:off x="1463040" y="3630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missed demand</a:t>
            </a:r>
            <a:endParaRPr lang="en-US" sz="1250"/>
          </a:p>
        </p:txBody>
      </p:sp>
      <p:sp>
        <p:nvSpPr>
          <p:cNvPr id="13" name="Shape 9"/>
          <p:cNvSpPr/>
          <p:nvPr/>
        </p:nvSpPr>
        <p:spPr>
          <a:xfrm>
            <a:off x="640080" y="4169664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1655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weather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1463040" y="4663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covariate</a:t>
            </a:r>
            <a:endParaRPr lang="en-US" sz="1250"/>
          </a:p>
        </p:txBody>
      </p:sp>
      <p:sp>
        <p:nvSpPr>
          <p:cNvPr id="17" name="Shape 12"/>
          <p:cNvSpPr/>
          <p:nvPr/>
        </p:nvSpPr>
        <p:spPr>
          <a:xfrm>
            <a:off x="5989320" y="2103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217920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45.9M</a:t>
            </a:r>
            <a:endParaRPr lang="en-US" sz="3400"/>
          </a:p>
        </p:txBody>
      </p:sp>
      <p:sp>
        <p:nvSpPr>
          <p:cNvPr id="19" name="Text 14"/>
          <p:cNvSpPr/>
          <p:nvPr/>
        </p:nvSpPr>
        <p:spPr>
          <a:xfrm>
            <a:off x="6217920" y="3127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pickups, 2025</a:t>
            </a:r>
            <a:endParaRPr lang="en-US" sz="1250"/>
          </a:p>
        </p:txBody>
      </p:sp>
      <p:sp>
        <p:nvSpPr>
          <p:cNvPr id="20" name="Shape 15"/>
          <p:cNvSpPr/>
          <p:nvPr/>
        </p:nvSpPr>
        <p:spPr>
          <a:xfrm>
            <a:off x="8869680" y="2103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9098280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243.6M</a:t>
            </a:r>
            <a:endParaRPr lang="en-US" sz="3400"/>
          </a:p>
        </p:txBody>
      </p:sp>
      <p:sp>
        <p:nvSpPr>
          <p:cNvPr id="22" name="Text 17"/>
          <p:cNvSpPr/>
          <p:nvPr/>
        </p:nvSpPr>
        <p:spPr>
          <a:xfrm>
            <a:off x="9098280" y="3127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FHV pickups, 2025</a:t>
            </a:r>
            <a:endParaRPr lang="en-US" sz="1250"/>
          </a:p>
        </p:txBody>
      </p:sp>
      <p:sp>
        <p:nvSpPr>
          <p:cNvPr id="23" name="Shape 18"/>
          <p:cNvSpPr/>
          <p:nvPr/>
        </p:nvSpPr>
        <p:spPr>
          <a:xfrm>
            <a:off x="5989320" y="3931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217920" y="4297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~472K</a:t>
            </a:r>
            <a:endParaRPr lang="en-US" sz="3400"/>
          </a:p>
        </p:txBody>
      </p:sp>
      <p:sp>
        <p:nvSpPr>
          <p:cNvPr id="25" name="Text 20"/>
          <p:cNvSpPr/>
          <p:nvPr/>
        </p:nvSpPr>
        <p:spPr>
          <a:xfrm>
            <a:off x="6217920" y="49560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modeling-grain rows</a:t>
            </a:r>
            <a:endParaRPr lang="en-US" sz="1250"/>
          </a:p>
        </p:txBody>
      </p:sp>
      <p:sp>
        <p:nvSpPr>
          <p:cNvPr id="26" name="Shape 21"/>
          <p:cNvSpPr/>
          <p:nvPr/>
        </p:nvSpPr>
        <p:spPr>
          <a:xfrm>
            <a:off x="8869680" y="3931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9098280" y="4297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263×5×7×52</a:t>
            </a:r>
            <a:endParaRPr lang="en-US" sz="2300"/>
          </a:p>
        </p:txBody>
      </p:sp>
      <p:sp>
        <p:nvSpPr>
          <p:cNvPr id="28" name="Text 23"/>
          <p:cNvSpPr/>
          <p:nvPr/>
        </p:nvSpPr>
        <p:spPr>
          <a:xfrm>
            <a:off x="9098280" y="49560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× bucket × day × week</a:t>
            </a:r>
            <a:endParaRPr lang="en-US" sz="1250"/>
          </a:p>
        </p:txBody>
      </p:sp>
      <p:sp>
        <p:nvSpPr>
          <p:cNvPr id="29" name="Text 24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harmonized to one schema, and pickup-weighted so busy hours dominate — no synthetic data.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pickups undercount true demand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yellow pickups are supply-censored — they count trips that found a cab, not the riders who wanted one.</a:t>
            </a:r>
            <a:endParaRPr lang="en-US" sz="165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activity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+ FHV pickups in the zone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4014216" y="32461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/>
          </a:p>
        </p:txBody>
      </p:sp>
      <p:sp>
        <p:nvSpPr>
          <p:cNvPr id="11" name="Shape 8"/>
          <p:cNvSpPr/>
          <p:nvPr/>
        </p:nvSpPr>
        <p:spPr>
          <a:xfrm>
            <a:off x="4471416" y="260604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9260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1456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 market share</a:t>
            </a:r>
            <a:endParaRPr lang="en-US" sz="1700"/>
          </a:p>
        </p:txBody>
      </p:sp>
      <p:sp>
        <p:nvSpPr>
          <p:cNvPr id="14" name="Text 10"/>
          <p:cNvSpPr/>
          <p:nvPr/>
        </p:nvSpPr>
        <p:spPr>
          <a:xfrm>
            <a:off x="4791456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yellow's share of its borough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7845552" y="32461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/>
          </a:p>
        </p:txBody>
      </p:sp>
      <p:sp>
        <p:nvSpPr>
          <p:cNvPr id="16" name="Shape 12"/>
          <p:cNvSpPr/>
          <p:nvPr/>
        </p:nvSpPr>
        <p:spPr>
          <a:xfrm>
            <a:off x="8302752" y="260604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9260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22792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demand</a:t>
            </a:r>
            <a:endParaRPr lang="en-US" sz="1700"/>
          </a:p>
        </p:txBody>
      </p:sp>
      <p:sp>
        <p:nvSpPr>
          <p:cNvPr id="19" name="Text 14"/>
          <p:cNvSpPr/>
          <p:nvPr/>
        </p:nvSpPr>
        <p:spPr>
          <a:xfrm>
            <a:off x="8622792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yellow-addressable riders</a:t>
            </a:r>
            <a:endParaRPr lang="en-US" sz="1300"/>
          </a:p>
        </p:txBody>
      </p:sp>
      <p:sp>
        <p:nvSpPr>
          <p:cNvPr id="20" name="Shape 15"/>
          <p:cNvSpPr/>
          <p:nvPr/>
        </p:nvSpPr>
        <p:spPr>
          <a:xfrm>
            <a:off x="640080" y="470916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914400" y="48646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FHV is central, not a side input:  </a:t>
            </a:r>
            <a:r>
              <a:rPr lang="en-US" sz="15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who can’t get a cab takes an Uber — which is exactly what reveals the demand a yellow-only view would miss.</a:t>
            </a:r>
            <a:endParaRPr lang="en-US"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demand models, one fair test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640080" cy="640080"/>
          </a:xfrm>
          <a:prstGeom prst="ellipse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demand quantiles per zone-slot. The zero-ML floor every track must beat.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3429000" y="224028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2560320"/>
            <a:ext cx="640080" cy="640080"/>
          </a:xfrm>
          <a:prstGeom prst="ellipse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749040" y="3383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GLM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3749040" y="3840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zone/time/weather, then optimize. Convex and fast.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7960" y="2560320"/>
            <a:ext cx="640080" cy="640080"/>
          </a:xfrm>
          <a:prstGeom prst="ellipse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537960" y="3383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QR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6537960" y="3840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quantile regression at each zone’s critical fractile.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9006840" y="224028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26880" y="2560320"/>
            <a:ext cx="640080" cy="640080"/>
          </a:xfrm>
          <a:prstGeom prst="ellipse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9326880" y="3383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Decision-focused</a:t>
            </a:r>
            <a:endParaRPr lang="en-US" sz="1700"/>
          </a:p>
        </p:txBody>
      </p:sp>
      <p:sp>
        <p:nvSpPr>
          <p:cNvPr id="24" name="Text 22"/>
          <p:cNvSpPr/>
          <p:nvPr/>
        </p:nvSpPr>
        <p:spPr>
          <a:xfrm>
            <a:off x="9326880" y="3840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directly against downstream allocation cost, not forecast error.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feed the same optimizer </a:t>
            </a:r>
            <a:r>
              <a:rPr lang="en-US" sz="1500" i="1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any difference in realized cost is the demand model’s doing, not the solver’s.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newsvendor, solved three ways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q₂  cabs per zone  (263 zones)
</a:t>
            </a:r>
            <a:endParaRPr lang="en-US" sz="1600"/>
          </a:p>
          <a:p>
            <a:pPr marL="0" indent="0">
              <a:lnSpc>
                <a:spcPct val="125000"/>
              </a:lnSpc>
              <a:buNone/>
            </a:pPr>
            <a:r>
              <a:rPr lang="en-US" sz="16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expected underage + overage cost
</a:t>
            </a:r>
            <a:endParaRPr lang="en-US" sz="160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Co·(q−D)⁺ + Cu·(D−q)⁺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</a:t>
            </a:r>
            <a:endParaRPr lang="en-US" sz="135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budget:  Σ q₂ ≤ 13,000</a:t>
            </a:r>
            <a:endParaRPr lang="en-US" sz="135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Per-zone floors (coverage) and caps (no over-concentration)</a:t>
            </a:r>
            <a:endParaRPr lang="en-US" sz="135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Non-negativity:  q₂ ≥ 0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166360" cy="3657600"/>
          </a:xfrm>
          <a:prstGeom prst="roundRect">
            <a:avLst>
              <a:gd name="adj" fmla="val 2500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three ways — and cross-checked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629400" y="2843784"/>
            <a:ext cx="109728" cy="56692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SLSQP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903720" y="311810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primary; analytic gradient, warm-started from the τ-quantile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629400" y="3685032"/>
            <a:ext cx="109728" cy="56692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36301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Water-filling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903720" y="39593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KKT bisection on the Lagrange multiplier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629400" y="4526280"/>
            <a:ext cx="109728" cy="56692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44714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/ CLARABEL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903720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convex cross-check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6629400" y="5285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three agree within tolerance, we call the continuous allocation optimal.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" y="576072"/>
            <a:ext cx="128016" cy="128016"/>
          </a:xfrm>
          <a:prstGeom prst="rect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40">
                <a:solidFill>
                  <a:srgbClr val="F0A828"/>
                </a:solidFill>
                <a:latin typeface="Calibri"/>
              </a:rPr>
              <a:t>STAKEHOLDER MODIFICATION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416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800" b="1">
                <a:solidFill>
                  <a:srgbClr val="F2F3F5"/>
                </a:solidFill>
                <a:latin typeface="Calibri"/>
              </a:rPr>
              <a:t>Benchmark: The Stakeholder Modification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5CAD3"/>
                </a:solidFill>
                <a:latin typeface="Calibri"/>
              </a:rPr>
              <a:t>TLC sent two changes. Same data, no warning, and one implicit test: can the agent absorb them without restructuring?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148840"/>
            <a:ext cx="5440680" cy="2880360"/>
          </a:xfrm>
          <a:prstGeom prst="roundRect">
            <a:avLst>
              <a:gd name="adj" fmla="val 7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0976" y="2514600"/>
            <a:ext cx="365760" cy="365760"/>
          </a:xfrm>
          <a:prstGeom prst="ellipse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6181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5"/>
                </a:solidFill>
                <a:latin typeface="Calibri"/>
              </a:rPr>
              <a:t>Idle cost now depends on 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54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An idle cab in Staten Island is not an idle cab in Midtown. Borough multipliers from 0.70× (airports) to 1.80× (Staten Island) replace the flat overage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43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A828"/>
                </a:solidFill>
                <a:latin typeface="Calibri"/>
              </a:rPr>
              <a:t>Co</a:t>
            </a:r>
            <a:r>
              <a:rPr sz="1100" b="1" i="0" baseline="-25000">
                <a:solidFill>
                  <a:srgbClr val="F0A828"/>
                </a:solidFill>
                <a:latin typeface="Calibri"/>
              </a:rPr>
              <a:t>z</a:t>
            </a:r>
            <a:r>
              <a:rPr sz="1500" b="1" i="0">
                <a:solidFill>
                  <a:srgbClr val="F0A828"/>
                </a:solidFill>
                <a:latin typeface="Calibri"/>
              </a:rPr>
              <a:t>  =  α</a:t>
            </a:r>
            <a:r>
              <a:rPr sz="1100" b="1" i="0" baseline="-25000">
                <a:solidFill>
                  <a:srgbClr val="F0A828"/>
                </a:solidFill>
                <a:latin typeface="Calibri"/>
              </a:rPr>
              <a:t>borough</a:t>
            </a:r>
            <a:r>
              <a:rPr sz="1500" b="1" i="0">
                <a:solidFill>
                  <a:srgbClr val="F0A828"/>
                </a:solidFill>
                <a:latin typeface="Calibri"/>
              </a:rPr>
              <a:t> · Co</a:t>
            </a:r>
            <a:r>
              <a:rPr sz="1100" b="1" i="0" baseline="-25000">
                <a:solidFill>
                  <a:srgbClr val="F0A828"/>
                </a:solidFill>
                <a:latin typeface="Calibri"/>
              </a:rPr>
              <a:t>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148840"/>
            <a:ext cx="5440680" cy="2880360"/>
          </a:xfrm>
          <a:prstGeom prst="roundRect">
            <a:avLst>
              <a:gd name="adj" fmla="val 7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514600"/>
            <a:ext cx="365760" cy="365760"/>
          </a:xfrm>
          <a:prstGeom prst="ellipse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6181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514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5"/>
                </a:solidFill>
                <a:latin typeface="Calibri"/>
              </a:rPr>
              <a:t>The fleet size is now a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13,000 cabs is no longer fixed. Rent extra cabs at $45 per cab-slot, or stand cabs down for a $20 saving. Fleet size F is optimized jointly with placement q.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0A828"/>
                </a:solidFill>
                <a:latin typeface="Calibri"/>
              </a:rPr>
              <a:t>min  newsvendor(q) + 45·(F−13k)⁺ − 20·(13k−F)⁺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5349240"/>
            <a:ext cx="10981944" cy="777240"/>
          </a:xfrm>
          <a:prstGeom prst="roundRect">
            <a:avLst>
              <a:gd name="adj" fmla="val 18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5349240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0A828"/>
                </a:solidFill>
                <a:latin typeface="Calibri"/>
              </a:rPr>
              <a:t>How it went: </a:t>
            </a:r>
            <a:r>
              <a:rPr sz="1300" b="0" i="0">
                <a:solidFill>
                  <a:srgbClr val="C5CAD3"/>
                </a:solidFill>
                <a:latin typeface="Calibri"/>
              </a:rPr>
              <a:t>both changes entered through the config overlay; no solver code was restructured. The full pipeline re-ran end to end the same day, cross-checked by all three solvers.</a:t>
            </a:r>
          </a:p>
        </p:txBody>
      </p:sp>
    </p:spTree>
    <p:extLst>
      <p:ext uri="{BB962C8B-B14F-4D97-AF65-F5344CB8AC3E}">
        <p14:creationId xmlns:p14="http://schemas.microsoft.com/office/powerpoint/2010/main" val="89067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" y="576072"/>
            <a:ext cx="128016" cy="128016"/>
          </a:xfrm>
          <a:prstGeom prst="rect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40">
                <a:solidFill>
                  <a:srgbClr val="F0A828"/>
                </a:solidFill>
                <a:latin typeface="Calibri"/>
              </a:rPr>
              <a:t>TASK 1 · ZONE-SPECIFIC OVERAGE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2F3F5"/>
                </a:solidFill>
                <a:latin typeface="Calibri"/>
              </a:rPr>
              <a:t>Costs moved, the fleet barely had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5CAD3"/>
                </a:solidFill>
                <a:latin typeface="Calibri"/>
              </a:rPr>
              <a:t>One overlay in the cost pipeline, then a full re-run and an A vs B backtest on the same three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103120"/>
            <a:ext cx="4160520" cy="338328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200">
                <a:solidFill>
                  <a:srgbClr val="8A9099"/>
                </a:solidFill>
                <a:latin typeface="Calibri"/>
              </a:rPr>
              <a:t>OVERAGE MULTIPLIER  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Manhattan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4320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F2F3F5"/>
                </a:solidFill>
                <a:latin typeface="Calibri"/>
              </a:rPr>
              <a:t>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Brooklyn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8211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F2F3F5"/>
                </a:solidFill>
                <a:latin typeface="Calibri"/>
              </a:rPr>
              <a:t>1.25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Queens (non-airport)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21024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F2F3F5"/>
                </a:solidFill>
                <a:latin typeface="Calibri"/>
              </a:rPr>
              <a:t>1.40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5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Bronx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59935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F2F3F5"/>
                </a:solidFill>
                <a:latin typeface="Calibri"/>
              </a:rPr>
              <a:t>1.50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988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Staten Island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49884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F2F3F5"/>
                </a:solidFill>
                <a:latin typeface="Calibri"/>
              </a:rPr>
              <a:t>1.80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3F5"/>
                </a:solidFill>
                <a:latin typeface="Calibri"/>
              </a:rPr>
              <a:t>JFK · LGA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9377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F0A828"/>
                </a:solidFill>
                <a:latin typeface="Calibri"/>
              </a:rPr>
              <a:t>0.70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6904" y="2103120"/>
            <a:ext cx="6638544" cy="338328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23774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200">
                <a:solidFill>
                  <a:srgbClr val="8A9099"/>
                </a:solidFill>
                <a:latin typeface="Calibri"/>
              </a:rPr>
              <a:t>WHERE THE FLEET MOVED   ·   MONDAY 6–9 AM, Δ CABS A→B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743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C5CAD3"/>
                </a:solidFill>
                <a:latin typeface="Calibri"/>
              </a:rPr>
              <a:t>Manhattan (α = 1.00)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743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3F5"/>
                </a:solidFill>
                <a:latin typeface="Calibri"/>
              </a:rPr>
              <a:t>±0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18211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C5CAD3"/>
                </a:solidFill>
                <a:latin typeface="Calibri"/>
              </a:rPr>
              <a:t>Brooklyn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6231" y="3236976"/>
            <a:ext cx="481888" cy="256032"/>
          </a:xfrm>
          <a:prstGeom prst="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318211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3F5"/>
                </a:solidFill>
                <a:latin typeface="Calibri"/>
              </a:rPr>
              <a:t>−8.5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62102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C5CAD3"/>
                </a:solidFill>
                <a:latin typeface="Calibri"/>
              </a:rPr>
              <a:t>Bronx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51192" y="3675887"/>
            <a:ext cx="566928" cy="256032"/>
          </a:xfrm>
          <a:prstGeom prst="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3621024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3F5"/>
                </a:solidFill>
                <a:latin typeface="Calibri"/>
              </a:rPr>
              <a:t>−10.0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059935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C5CAD3"/>
                </a:solidFill>
                <a:latin typeface="Calibri"/>
              </a:rPr>
              <a:t>Queens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4973" y="4114799"/>
            <a:ext cx="1763146" cy="256032"/>
          </a:xfrm>
          <a:prstGeom prst="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27848" y="4059935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3F5"/>
                </a:solidFill>
                <a:latin typeface="Calibri"/>
              </a:rPr>
              <a:t>−31.1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4988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C5CAD3"/>
                </a:solidFill>
                <a:latin typeface="Calibri"/>
              </a:rPr>
              <a:t>Staten Island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89301" y="4553712"/>
            <a:ext cx="328818" cy="256032"/>
          </a:xfrm>
          <a:prstGeom prst="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27848" y="44988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3F5"/>
                </a:solidFill>
                <a:latin typeface="Calibri"/>
              </a:rPr>
              <a:t>−5.8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93776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3F5"/>
                </a:solidFill>
                <a:latin typeface="Calibri"/>
              </a:rPr>
              <a:t>Airports gain: </a:t>
            </a:r>
            <a:r>
              <a:rPr sz="1250" b="0" i="0">
                <a:solidFill>
                  <a:srgbClr val="C5CAD3"/>
                </a:solidFill>
                <a:latin typeface="Calibri"/>
              </a:rPr>
              <a:t>α = 0.70 lifts τ at JFK and LGA, so the agent stages more cabs there.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5760720"/>
            <a:ext cx="10981944" cy="777240"/>
          </a:xfrm>
          <a:prstGeom prst="roundRect">
            <a:avLst>
              <a:gd name="adj" fmla="val 18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5760720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0A828"/>
                </a:solidFill>
                <a:latin typeface="Calibri"/>
              </a:rPr>
              <a:t>The honest result: </a:t>
            </a:r>
            <a:r>
              <a:rPr sz="1300" b="0" i="0">
                <a:solidFill>
                  <a:srgbClr val="C5CAD3"/>
                </a:solidFill>
                <a:latin typeface="Calibri"/>
              </a:rPr>
              <a:t>Model B did not beat Model A on realized test cost (Mon +$1.9K, Fri +$0.6K, Sat −$0.2K per slot). Manhattan holds most of the fleet at α = 1.00, so the flat cost was already a good approximation. All three solvers still agree under Model B.</a:t>
            </a:r>
          </a:p>
        </p:txBody>
      </p:sp>
    </p:spTree>
    <p:extLst>
      <p:ext uri="{BB962C8B-B14F-4D97-AF65-F5344CB8AC3E}">
        <p14:creationId xmlns:p14="http://schemas.microsoft.com/office/powerpoint/2010/main" val="253261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" y="576072"/>
            <a:ext cx="128016" cy="128016"/>
          </a:xfrm>
          <a:prstGeom prst="rect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40">
                <a:solidFill>
                  <a:srgbClr val="F0A828"/>
                </a:solidFill>
                <a:latin typeface="Calibri"/>
              </a:rPr>
              <a:t>TASK 2 · ELASTIC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416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800" b="1">
                <a:solidFill>
                  <a:srgbClr val="F2F3F5"/>
                </a:solidFill>
                <a:latin typeface="Calibri"/>
              </a:rPr>
              <a:t>Renting cabs rarely pays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5CAD3"/>
                </a:solidFill>
                <a:latin typeface="Calibri"/>
              </a:rPr>
              <a:t>Fleet size F is now a decision variable, optimized jointly with placement q — break-even rents on realized test cost across the same three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148840"/>
            <a:ext cx="5440680" cy="2880360"/>
          </a:xfrm>
          <a:prstGeom prst="roundRect">
            <a:avLst>
              <a:gd name="adj" fmla="val 7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0976" y="2514600"/>
            <a:ext cx="365760" cy="365760"/>
          </a:xfrm>
          <a:prstGeom prst="ellipse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6181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5"/>
                </a:solidFill>
                <a:latin typeface="Calibri"/>
              </a:rPr>
              <a:t>Break-even rent = λ(F₀) by slot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54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Mon 6–9 AM → $0.00, contract to 8,186 cabs.  Fri 7 PM–midnight → $25.31, stay.  Sat midday → $28.31, stay.  Every break-even is below the $45 rental.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43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A828"/>
                </a:solidFill>
                <a:latin typeface="Calibri"/>
              </a:rPr>
              <a:t>Dead band [$20, $45]:  expand if λ &gt; $45, contract if λ &lt; $20.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148840"/>
            <a:ext cx="5440680" cy="2880360"/>
          </a:xfrm>
          <a:prstGeom prst="roundRect">
            <a:avLst>
              <a:gd name="adj" fmla="val 7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514600"/>
            <a:ext cx="365760" cy="365760"/>
          </a:xfrm>
          <a:prstGeom prst="ellipse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6181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514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5"/>
                </a:solidFill>
                <a:latin typeface="Calibri"/>
              </a:rPr>
              <a:t>So the fleet barely moves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Only the slack Monday slot contracts; Friday and Saturday hold at 13,000. The shadow price at F* — the value of one more cab — is $20.00, $25.31, and $28.31, all under the $45 it costs to rent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0A828"/>
                </a:solidFill>
                <a:latin typeface="Calibri"/>
              </a:rPr>
              <a:t>Marginal cab worth &lt; $45  →  renting never pays in these slots.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5349240"/>
            <a:ext cx="10981944" cy="777240"/>
          </a:xfrm>
          <a:prstGeom prst="roundRect">
            <a:avLst>
              <a:gd name="adj" fmla="val 18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5349240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0A828"/>
                </a:solidFill>
                <a:latin typeface="Calibri"/>
              </a:rPr>
              <a:t>The honest result: </a:t>
            </a:r>
            <a:r>
              <a:rPr sz="1300" b="0" i="0">
                <a:solidFill>
                  <a:srgbClr val="C5CAD3"/>
                </a:solidFill>
                <a:latin typeface="Calibri"/>
              </a:rPr>
              <a:t>on realized test cost an elastic fleet adds no saving — Monday’s contraction saves $96K in rental but loses more to unmet demand out-of-sample. Absorbed by a one-line config flag; all three solvers still agree.</a:t>
            </a:r>
          </a:p>
        </p:txBody>
      </p:sp>
    </p:spTree>
    <p:extLst>
      <p:ext uri="{BB962C8B-B14F-4D97-AF65-F5344CB8AC3E}">
        <p14:creationId xmlns:p14="http://schemas.microsoft.com/office/powerpoint/2010/main" val="89067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64592" cy="164592"/>
          </a:xfrm>
          <a:prstGeom prst="rect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0A828"/>
                </a:solidFill>
                <a:latin typeface="Calibri"/>
              </a:rPr>
              <a:t>TASK 2  ·  A / B / C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2F3F5"/>
                </a:solidFill>
                <a:latin typeface="Calibri"/>
              </a:rPr>
              <a:t>Three models, three slots, one comparable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Realized newsvendor cost on the held-out test weeks, plus the fleet-adjustment cost for the elastic Model 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55680" cy="292608"/>
          </a:xfrm>
          <a:prstGeom prst="rect">
            <a:avLst/>
          </a:prstGeom>
          <a:solidFill>
            <a:srgbClr val="2F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160">
                <a:solidFill>
                  <a:srgbClr val="7E8491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057400"/>
            <a:ext cx="23042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160">
                <a:solidFill>
                  <a:srgbClr val="7E8491"/>
                </a:solidFill>
                <a:latin typeface="Calibri"/>
              </a:rPr>
              <a:t>Fleet F*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3832" y="2057400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160">
                <a:solidFill>
                  <a:srgbClr val="7E8491"/>
                </a:solidFill>
                <a:latin typeface="Calibri"/>
              </a:rPr>
              <a:t>Total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2" y="205740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160">
                <a:solidFill>
                  <a:srgbClr val="7E8491"/>
                </a:solidFill>
                <a:latin typeface="Calibri"/>
              </a:rPr>
              <a:t>Shadow price 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8632" y="2057400"/>
            <a:ext cx="202996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160">
                <a:solidFill>
                  <a:srgbClr val="7E8491"/>
                </a:solidFill>
                <a:latin typeface="Calibri"/>
              </a:rPr>
              <a:t>Break-even r̄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0008"/>
            <a:ext cx="11155680" cy="237744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350008"/>
            <a:ext cx="108264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80">
                <a:solidFill>
                  <a:srgbClr val="F0A828"/>
                </a:solidFill>
                <a:latin typeface="Calibri"/>
              </a:rPr>
              <a:t>Monday 06:00–08:59  —  morning peak (low demand)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87752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A  —  fixed, flat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587752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13,000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2" y="2587752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$43,728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2587752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λ(F₀) = 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587752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834640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B  —  fixed,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2834640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13,000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2834640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$45,658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2" y="2834640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λ(F₀) = 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834640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$0.00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81528"/>
            <a:ext cx="11155680" cy="246888"/>
          </a:xfrm>
          <a:prstGeom prst="rect">
            <a:avLst/>
          </a:prstGeom>
          <a:solidFill>
            <a:srgbClr val="292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3081528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C  —  elastic, 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4952" y="3081528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8,186  (contract −4,814)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2" y="3081528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828"/>
                </a:solidFill>
                <a:latin typeface="Calibri"/>
              </a:rPr>
              <a:t>$48,435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3081528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λ(F*) = 20.00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081528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28416"/>
            <a:ext cx="11155680" cy="237744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3328416"/>
            <a:ext cx="108264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80">
                <a:solidFill>
                  <a:srgbClr val="F0A828"/>
                </a:solidFill>
                <a:latin typeface="Calibri"/>
              </a:rPr>
              <a:t>Friday 19:00–23:59  —  evening (busy)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3566160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A  —  fixed, flat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4952" y="3566160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13,000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3832" y="3566160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$667,436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2" y="3566160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3566160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3813048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B  —  fixed, 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4952" y="3813048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13,000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3813048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$667,398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2632" y="3813048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λ(F₀) = 25.31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8632" y="3813048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$25.31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59935"/>
            <a:ext cx="11155680" cy="246888"/>
          </a:xfrm>
          <a:prstGeom prst="rect">
            <a:avLst/>
          </a:prstGeom>
          <a:solidFill>
            <a:srgbClr val="292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4059935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C  —  elastic, zone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4952" y="4059935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13,000  (stay)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3832" y="4059935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828"/>
                </a:solidFill>
                <a:latin typeface="Calibri"/>
              </a:rPr>
              <a:t>$667,398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2" y="4059935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λ(F*) = 25.31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4059935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306823"/>
            <a:ext cx="11155680" cy="237744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306823"/>
            <a:ext cx="108264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80">
                <a:solidFill>
                  <a:srgbClr val="F0A828"/>
                </a:solidFill>
                <a:latin typeface="Calibri"/>
              </a:rPr>
              <a:t>Saturday 09:00–15:59  —  midday (busy)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" y="4544567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A  —  fixed, flat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44952" y="4544567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13,000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13832" y="4544567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$765,356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2" y="4544567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28632" y="4544567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" y="4791455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B  —  fixed, zone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44952" y="4791455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13,000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3832" y="4791455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$765,196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42632" y="4791455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λ(F₀) = 28.31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8632" y="4791455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5CAD3"/>
                </a:solidFill>
                <a:latin typeface="Calibri"/>
              </a:rPr>
              <a:t>$28.31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038343"/>
            <a:ext cx="11155680" cy="246888"/>
          </a:xfrm>
          <a:prstGeom prst="rect">
            <a:avLst/>
          </a:prstGeom>
          <a:solidFill>
            <a:srgbClr val="292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" y="5038343"/>
            <a:ext cx="22128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2F3F5"/>
                </a:solidFill>
                <a:latin typeface="Calibri"/>
              </a:rPr>
              <a:t>C  —  elastic, zone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4952" y="5038343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13,000  (stay)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13832" y="5038343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A828"/>
                </a:solidFill>
                <a:latin typeface="Calibri"/>
              </a:rPr>
              <a:t>$765,196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42632" y="5038343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λ(F*) = 28.31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28632" y="5038343"/>
            <a:ext cx="2029967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2F3F5"/>
                </a:solidFill>
                <a:latin typeface="Calibri"/>
              </a:rPr>
              <a:t>—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2F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0A828"/>
                </a:solidFill>
                <a:latin typeface="Calibri"/>
              </a:rPr>
              <a:t>Bottom line:   </a:t>
            </a:r>
            <a:r>
              <a:rPr sz="1400" b="0" i="0">
                <a:solidFill>
                  <a:srgbClr val="F2F3F5"/>
                </a:solidFill>
                <a:latin typeface="Calibri"/>
              </a:rPr>
              <a:t>only Monday contracts — and on the held-out weeks it costs $2,777 more than holding. Every break-even rate is below the $45 rental, so the agent never expands. The 13,000-cab fleet is right-sized to oversized for these slots; the cost lever is spatial placement, not fleet sizing.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64592" cy="164592"/>
          </a:xfrm>
          <a:prstGeom prst="rect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0A828"/>
                </a:solidFill>
                <a:latin typeface="Calibri"/>
              </a:rPr>
              <a:t>STAKEHOLDER MODIFICATION  ·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2F3F5"/>
                </a:solidFill>
                <a:latin typeface="Calibri"/>
              </a:rPr>
              <a:t>What changed, what we found, what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Two changes to the original fleet-allocation problem — both absorbed through the optimizer’s config layer with no code edits.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7E8491"/>
                </a:solidFill>
                <a:latin typeface="Calibri"/>
              </a:rPr>
              <a:t>ORIGINAL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2F3F5"/>
                </a:solidFill>
                <a:latin typeface="Calibri"/>
              </a:rPr>
              <a:t>Spatial newsvendor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C5CAD3"/>
                </a:solidFill>
                <a:latin typeface="Calibri"/>
              </a:rPr>
              <a:t>Place 13,000 cabs across 263 zones to balance underage (lost fare) against overage (idle cost). Flat overage cost everywhere, fleet size fixed by TLC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828"/>
                </a:solidFill>
                <a:latin typeface="Calibri"/>
              </a:rPr>
              <a:t>Decision: q (allocation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5740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0A828"/>
                </a:solidFill>
                <a:latin typeface="Calibri"/>
              </a:rPr>
              <a:t>+  TASK 1 MODIFICATION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9748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2F3F5"/>
                </a:solidFill>
                <a:latin typeface="Calibri"/>
              </a:rPr>
              <a:t>Zone-specific 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00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C5CAD3"/>
                </a:solidFill>
                <a:latin typeface="Calibri"/>
              </a:rPr>
              <a:t>Replace flat Co with Co</a:t>
            </a:r>
            <a:r>
              <a:rPr sz="900" b="0" i="0">
                <a:solidFill>
                  <a:srgbClr val="C5CAD3"/>
                </a:solidFill>
                <a:latin typeface="Calibri"/>
              </a:rPr>
              <a:t>z</a:t>
            </a:r>
            <a:r>
              <a:rPr sz="1250" b="0" i="0">
                <a:solidFill>
                  <a:srgbClr val="C5CAD3"/>
                </a:solidFill>
                <a:latin typeface="Calibri"/>
              </a:rPr>
              <a:t> = α·Co</a:t>
            </a:r>
            <a:r>
              <a:rPr sz="900" b="0" i="0">
                <a:solidFill>
                  <a:srgbClr val="C5CAD3"/>
                </a:solidFill>
                <a:latin typeface="Calibri"/>
              </a:rPr>
              <a:t>t</a:t>
            </a:r>
            <a:r>
              <a:rPr sz="1250" b="0" i="0">
                <a:solidFill>
                  <a:srgbClr val="C5CAD3"/>
                </a:solidFill>
                <a:latin typeface="Calibri"/>
              </a:rPr>
              <a:t>.  α ranges 0.70× at airports to 1.80× in Staten Island. Outer boroughs penalized; airports get more pre-position.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43484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0A828"/>
                </a:solidFill>
                <a:latin typeface="Calibri"/>
              </a:rPr>
              <a:t>Finding:  </a:t>
            </a:r>
            <a:r>
              <a:rPr sz="1150" b="0" i="0">
                <a:solidFill>
                  <a:srgbClr val="F2F3F5"/>
                </a:solidFill>
                <a:latin typeface="Calibri"/>
              </a:rPr>
              <a:t>realized cost barely moves (±$0.2K–$1.9K). Manhattan holds the margin at α = 1.00.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05740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0A828"/>
                </a:solidFill>
                <a:latin typeface="Calibri"/>
              </a:rPr>
              <a:t>+  TASK 2 MODIFICATION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8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2F3F5"/>
                </a:solidFill>
                <a:latin typeface="Calibri"/>
              </a:rPr>
              <a:t>Elastic fleet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C5CAD3"/>
                </a:solidFill>
                <a:latin typeface="Calibri"/>
              </a:rPr>
              <a:t>Fleet F joins the optimization. Rent extra cabs at $45/slot, stand down for a $20/slot saving. Joint decision over (F, q) with an asymmetric adjustment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3484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0A828"/>
                </a:solidFill>
                <a:latin typeface="Calibri"/>
              </a:rPr>
              <a:t>Finding:  </a:t>
            </a:r>
            <a:r>
              <a:rPr sz="1150" b="0" i="0">
                <a:solidFill>
                  <a:srgbClr val="F2F3F5"/>
                </a:solidFill>
                <a:latin typeface="Calibri"/>
              </a:rPr>
              <a:t>break-even rents $0–$28, all below $45.  Two slots stay, one contracts — and on test weeks the contraction loses $2,777.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2F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0A828"/>
                </a:solidFill>
                <a:latin typeface="Calibri"/>
              </a:rPr>
              <a:t>The agent absorbed both:  </a:t>
            </a:r>
            <a:r>
              <a:rPr sz="1400" b="0" i="0">
                <a:solidFill>
                  <a:srgbClr val="F2F3F5"/>
                </a:solidFill>
                <a:latin typeface="Calibri"/>
              </a:rPr>
              <a:t>a borough-multiplier vector and a fleet-elasticity flag entered through one config object — no solver code was restructured. Three solvers still agree, and the full pipeline re-ran end to end the same 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a manager can talk to</a:t>
            </a:r>
            <a:endParaRPr lang="en-US" sz="29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D63D19-6D43-0C15-EF0B-D7072CD54E88}"/>
              </a:ext>
            </a:extLst>
          </p:cNvPr>
          <p:cNvGrpSpPr/>
          <p:nvPr/>
        </p:nvGrpSpPr>
        <p:grpSpPr>
          <a:xfrm>
            <a:off x="517616" y="1540329"/>
            <a:ext cx="4433026" cy="2047059"/>
            <a:chOff x="640080" y="2057400"/>
            <a:chExt cx="5349240" cy="2468880"/>
          </a:xfrm>
        </p:grpSpPr>
        <p:sp>
          <p:nvSpPr>
            <p:cNvPr id="5" name="Shape 3"/>
            <p:cNvSpPr/>
            <p:nvPr/>
          </p:nvSpPr>
          <p:spPr>
            <a:xfrm>
              <a:off x="640080" y="2057400"/>
              <a:ext cx="5349240" cy="2468880"/>
            </a:xfrm>
            <a:prstGeom prst="roundRect">
              <a:avLst>
                <a:gd name="adj" fmla="val 3704"/>
              </a:avLst>
            </a:prstGeom>
            <a:solidFill>
              <a:srgbClr val="1E2128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331720"/>
              <a:ext cx="457200" cy="45720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508760" y="2359152"/>
              <a:ext cx="4297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 · Optimization engine</a:t>
              </a:r>
              <a:endParaRPr lang="en-US" sz="1700"/>
            </a:p>
          </p:txBody>
        </p:sp>
        <p:sp>
          <p:nvSpPr>
            <p:cNvPr id="8" name="Text 5"/>
            <p:cNvSpPr/>
            <p:nvPr/>
          </p:nvSpPr>
          <p:spPr>
            <a:xfrm>
              <a:off x="914400" y="2971800"/>
              <a:ext cx="484632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8000"/>
                </a:lnSpc>
                <a:buNone/>
              </a:pPr>
              <a:r>
                <a:rPr lang="en-US" sz="1350">
                  <a:solidFill>
                    <a:srgbClr val="9AA1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typed, sequential pipeline — clean → aggregate → demand proxy → split → costs → predict → solve → round.</a:t>
              </a:r>
              <a:endParaRPr lang="en-US" sz="1350"/>
            </a:p>
            <a:p>
              <a:pPr marL="0" indent="0">
                <a:lnSpc>
                  <a:spcPct val="118000"/>
                </a:lnSpc>
                <a:buNone/>
              </a:pPr>
              <a:r>
                <a:rPr lang="en-US" sz="1350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config object is the single source of truth for every tunable.</a:t>
              </a:r>
              <a:endParaRPr lang="en-US" sz="135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6AB2F5-7F2F-A7DA-B724-E8E88894D2BC}"/>
              </a:ext>
            </a:extLst>
          </p:cNvPr>
          <p:cNvGrpSpPr/>
          <p:nvPr/>
        </p:nvGrpSpPr>
        <p:grpSpPr>
          <a:xfrm>
            <a:off x="525454" y="3989614"/>
            <a:ext cx="4423954" cy="2047058"/>
            <a:chOff x="6199632" y="2057400"/>
            <a:chExt cx="5349240" cy="2468880"/>
          </a:xfrm>
        </p:grpSpPr>
        <p:sp>
          <p:nvSpPr>
            <p:cNvPr id="9" name="Shape 6"/>
            <p:cNvSpPr/>
            <p:nvPr/>
          </p:nvSpPr>
          <p:spPr>
            <a:xfrm>
              <a:off x="6199632" y="2057400"/>
              <a:ext cx="5349240" cy="2468880"/>
            </a:xfrm>
            <a:prstGeom prst="roundRect">
              <a:avLst>
                <a:gd name="adj" fmla="val 3704"/>
              </a:avLst>
            </a:prstGeom>
            <a:solidFill>
              <a:srgbClr val="262B33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2331720"/>
              <a:ext cx="457200" cy="4572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7068312" y="2359152"/>
              <a:ext cx="4297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2 · Agent layer</a:t>
              </a:r>
              <a:endParaRPr lang="en-US" sz="1700"/>
            </a:p>
          </p:txBody>
        </p:sp>
        <p:sp>
          <p:nvSpPr>
            <p:cNvPr id="12" name="Text 8"/>
            <p:cNvSpPr/>
            <p:nvPr/>
          </p:nvSpPr>
          <p:spPr>
            <a:xfrm>
              <a:off x="6473952" y="2971800"/>
              <a:ext cx="484632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8000"/>
                </a:lnSpc>
                <a:buNone/>
              </a:pPr>
              <a:r>
                <a:rPr lang="en-US" sz="1350">
                  <a:solidFill>
                    <a:srgbClr val="9AA1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 LLM wraps the engine as a callable tool. A manager states a goal in plain language;</a:t>
              </a:r>
              <a:endParaRPr lang="en-US" sz="1350"/>
            </a:p>
            <a:p>
              <a:pPr marL="0" indent="0">
                <a:lnSpc>
                  <a:spcPct val="118000"/>
                </a:lnSpc>
                <a:buNone/>
              </a:pPr>
              <a:r>
                <a:rPr lang="en-US" sz="1350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agent reconfigures, re-runs, and returns a new plan with a full audit trail.</a:t>
              </a:r>
              <a:endParaRPr lang="en-US" sz="1350"/>
            </a:p>
          </p:txBody>
        </p:sp>
      </p:grpSp>
      <p:sp>
        <p:nvSpPr>
          <p:cNvPr id="13" name="Text 9"/>
          <p:cNvSpPr/>
          <p:nvPr/>
        </p:nvSpPr>
        <p:spPr>
          <a:xfrm>
            <a:off x="6967402" y="840196"/>
            <a:ext cx="40823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REQUIRED COMPONENTS, END TO END</a:t>
            </a:r>
            <a:endParaRPr lang="en-US" sz="12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4610D9-85CC-76A0-44DE-E8BC28417D43}"/>
              </a:ext>
            </a:extLst>
          </p:cNvPr>
          <p:cNvGrpSpPr/>
          <p:nvPr/>
        </p:nvGrpSpPr>
        <p:grpSpPr>
          <a:xfrm>
            <a:off x="6799580" y="1205955"/>
            <a:ext cx="2011680" cy="960120"/>
            <a:chOff x="7538901" y="1813741"/>
            <a:chExt cx="2011680" cy="960120"/>
          </a:xfrm>
        </p:grpSpPr>
        <p:sp>
          <p:nvSpPr>
            <p:cNvPr id="14" name="Shape 10"/>
            <p:cNvSpPr/>
            <p:nvPr/>
          </p:nvSpPr>
          <p:spPr>
            <a:xfrm>
              <a:off x="7538901" y="1813741"/>
              <a:ext cx="2011680" cy="960120"/>
            </a:xfrm>
            <a:prstGeom prst="roundRect">
              <a:avLst>
                <a:gd name="adj" fmla="val 9524"/>
              </a:avLst>
            </a:prstGeom>
            <a:solidFill>
              <a:srgbClr val="1E2128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7721781" y="1932613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16" name="Text 12"/>
            <p:cNvSpPr/>
            <p:nvPr/>
          </p:nvSpPr>
          <p:spPr>
            <a:xfrm>
              <a:off x="7721781" y="2179501"/>
              <a:ext cx="1691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</a:t>
              </a:r>
              <a:endParaRPr lang="en-US" sz="125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formulation</a:t>
              </a:r>
              <a:endParaRPr lang="en-US" sz="125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050FD6-BDA3-D224-7332-E0AAC878B3D4}"/>
              </a:ext>
            </a:extLst>
          </p:cNvPr>
          <p:cNvGrpSpPr/>
          <p:nvPr/>
        </p:nvGrpSpPr>
        <p:grpSpPr>
          <a:xfrm>
            <a:off x="8928608" y="1205955"/>
            <a:ext cx="2011680" cy="960120"/>
            <a:chOff x="3127429" y="3691527"/>
            <a:chExt cx="2011680" cy="960120"/>
          </a:xfrm>
        </p:grpSpPr>
        <p:sp>
          <p:nvSpPr>
            <p:cNvPr id="17" name="Shape 13"/>
            <p:cNvSpPr/>
            <p:nvPr/>
          </p:nvSpPr>
          <p:spPr>
            <a:xfrm>
              <a:off x="3127429" y="3691527"/>
              <a:ext cx="2011680" cy="960120"/>
            </a:xfrm>
            <a:prstGeom prst="roundRect">
              <a:avLst>
                <a:gd name="adj" fmla="val 9524"/>
              </a:avLst>
            </a:prstGeom>
            <a:solidFill>
              <a:srgbClr val="1E2128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3310309" y="3810399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19" name="Text 15"/>
            <p:cNvSpPr/>
            <p:nvPr/>
          </p:nvSpPr>
          <p:spPr>
            <a:xfrm>
              <a:off x="3310309" y="4057287"/>
              <a:ext cx="1691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</a:t>
              </a:r>
              <a:endParaRPr lang="en-US" sz="125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prep</a:t>
              </a:r>
              <a:endParaRPr lang="en-US" sz="125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AA039D0-49B6-BA3D-35AE-A5A531233CFC}"/>
              </a:ext>
            </a:extLst>
          </p:cNvPr>
          <p:cNvGrpSpPr/>
          <p:nvPr/>
        </p:nvGrpSpPr>
        <p:grpSpPr>
          <a:xfrm>
            <a:off x="6798600" y="2240098"/>
            <a:ext cx="2011680" cy="960120"/>
            <a:chOff x="5351707" y="3691527"/>
            <a:chExt cx="2011680" cy="960120"/>
          </a:xfrm>
        </p:grpSpPr>
        <p:sp>
          <p:nvSpPr>
            <p:cNvPr id="20" name="Shape 16"/>
            <p:cNvSpPr/>
            <p:nvPr/>
          </p:nvSpPr>
          <p:spPr>
            <a:xfrm>
              <a:off x="5351707" y="3691527"/>
              <a:ext cx="2011680" cy="960120"/>
            </a:xfrm>
            <a:prstGeom prst="roundRect">
              <a:avLst>
                <a:gd name="adj" fmla="val 9524"/>
              </a:avLst>
            </a:prstGeom>
            <a:solidFill>
              <a:srgbClr val="1E2128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7"/>
            <p:cNvSpPr/>
            <p:nvPr/>
          </p:nvSpPr>
          <p:spPr>
            <a:xfrm>
              <a:off x="5534587" y="3810399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2" name="Text 18"/>
            <p:cNvSpPr/>
            <p:nvPr/>
          </p:nvSpPr>
          <p:spPr>
            <a:xfrm>
              <a:off x="5534587" y="4057287"/>
              <a:ext cx="1691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</a:t>
              </a:r>
              <a:endParaRPr lang="en-US" sz="125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</a:t>
              </a:r>
              <a:endParaRPr lang="en-US" sz="125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742675-30E9-B9BB-C28F-2E94D8F1E860}"/>
              </a:ext>
            </a:extLst>
          </p:cNvPr>
          <p:cNvGrpSpPr/>
          <p:nvPr/>
        </p:nvGrpSpPr>
        <p:grpSpPr>
          <a:xfrm>
            <a:off x="8895879" y="2240098"/>
            <a:ext cx="2011680" cy="960120"/>
            <a:chOff x="7575985" y="3691527"/>
            <a:chExt cx="2011680" cy="960120"/>
          </a:xfrm>
        </p:grpSpPr>
        <p:sp>
          <p:nvSpPr>
            <p:cNvPr id="23" name="Shape 19"/>
            <p:cNvSpPr/>
            <p:nvPr/>
          </p:nvSpPr>
          <p:spPr>
            <a:xfrm>
              <a:off x="7575985" y="3691527"/>
              <a:ext cx="2011680" cy="960120"/>
            </a:xfrm>
            <a:prstGeom prst="roundRect">
              <a:avLst>
                <a:gd name="adj" fmla="val 9524"/>
              </a:avLst>
            </a:prstGeom>
            <a:solidFill>
              <a:srgbClr val="1E2128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/>
            <p:cNvSpPr/>
            <p:nvPr/>
          </p:nvSpPr>
          <p:spPr>
            <a:xfrm>
              <a:off x="7758865" y="3810399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25" name="Text 21"/>
            <p:cNvSpPr/>
            <p:nvPr/>
          </p:nvSpPr>
          <p:spPr>
            <a:xfrm>
              <a:off x="7758865" y="4057287"/>
              <a:ext cx="1691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Optimization</a:t>
              </a:r>
              <a:endParaRPr lang="en-US" sz="125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engine</a:t>
              </a:r>
              <a:endParaRPr lang="en-US" sz="12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352A45-4366-DA65-508C-0EC4ED83BB73}"/>
              </a:ext>
            </a:extLst>
          </p:cNvPr>
          <p:cNvGrpSpPr/>
          <p:nvPr/>
        </p:nvGrpSpPr>
        <p:grpSpPr>
          <a:xfrm>
            <a:off x="7922478" y="3292383"/>
            <a:ext cx="2011680" cy="960120"/>
            <a:chOff x="9800263" y="3691527"/>
            <a:chExt cx="2011680" cy="960120"/>
          </a:xfrm>
        </p:grpSpPr>
        <p:sp>
          <p:nvSpPr>
            <p:cNvPr id="26" name="Shape 22"/>
            <p:cNvSpPr/>
            <p:nvPr/>
          </p:nvSpPr>
          <p:spPr>
            <a:xfrm>
              <a:off x="9800263" y="3691527"/>
              <a:ext cx="2011680" cy="960120"/>
            </a:xfrm>
            <a:prstGeom prst="roundRect">
              <a:avLst>
                <a:gd name="adj" fmla="val 9524"/>
              </a:avLst>
            </a:prstGeom>
            <a:solidFill>
              <a:srgbClr val="1E2128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3"/>
            <p:cNvSpPr/>
            <p:nvPr/>
          </p:nvSpPr>
          <p:spPr>
            <a:xfrm>
              <a:off x="9983143" y="3810399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28" name="Text 24"/>
            <p:cNvSpPr/>
            <p:nvPr/>
          </p:nvSpPr>
          <p:spPr>
            <a:xfrm>
              <a:off x="9983143" y="4057287"/>
              <a:ext cx="1691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Explanation</a:t>
              </a:r>
              <a:endParaRPr lang="en-US" sz="125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1250" b="1">
                  <a:solidFill>
                    <a:srgbClr val="ECEE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validation</a:t>
              </a:r>
              <a:endParaRPr lang="en-US" sz="1250"/>
            </a:p>
          </p:txBody>
        </p:sp>
      </p:grpSp>
      <p:sp>
        <p:nvSpPr>
          <p:cNvPr id="38" name="Text 2">
            <a:extLst>
              <a:ext uri="{FF2B5EF4-FFF2-40B4-BE49-F238E27FC236}">
                <a16:creationId xmlns:a16="http://schemas.microsoft.com/office/drawing/2014/main" id="{14F9DB17-270E-A837-D5EB-F92D13BADBEF}"/>
              </a:ext>
            </a:extLst>
          </p:cNvPr>
          <p:cNvSpPr/>
          <p:nvPr/>
        </p:nvSpPr>
        <p:spPr>
          <a:xfrm>
            <a:off x="6475585" y="4445327"/>
            <a:ext cx="4845051" cy="38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ECEEF1"/>
                </a:solidFill>
                <a:latin typeface="Calibri"/>
                <a:ea typeface="Calibri"/>
                <a:cs typeface="Calibri"/>
              </a:rPr>
              <a:t>Ask in plain language, get an optimized plan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76ED765-E288-8F5F-2796-17D9BA238212}"/>
              </a:ext>
            </a:extLst>
          </p:cNvPr>
          <p:cNvGrpSpPr/>
          <p:nvPr/>
        </p:nvGrpSpPr>
        <p:grpSpPr>
          <a:xfrm>
            <a:off x="6110696" y="4829068"/>
            <a:ext cx="5396593" cy="1165697"/>
            <a:chOff x="4822553" y="5151103"/>
            <a:chExt cx="5396593" cy="1165697"/>
          </a:xfrm>
        </p:grpSpPr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6D7C19B1-DD74-A45F-2330-EB5BAD22B8DD}"/>
                </a:ext>
              </a:extLst>
            </p:cNvPr>
            <p:cNvSpPr/>
            <p:nvPr/>
          </p:nvSpPr>
          <p:spPr>
            <a:xfrm>
              <a:off x="4822553" y="5151103"/>
              <a:ext cx="5396593" cy="532166"/>
            </a:xfrm>
            <a:prstGeom prst="roundRect">
              <a:avLst>
                <a:gd name="adj" fmla="val 9524"/>
              </a:avLst>
            </a:prstGeom>
            <a:solidFill>
              <a:srgbClr val="262B33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970E3C08-923D-DC5D-A61A-D58E27AE62F0}"/>
                </a:ext>
              </a:extLst>
            </p:cNvPr>
            <p:cNvSpPr/>
            <p:nvPr/>
          </p:nvSpPr>
          <p:spPr>
            <a:xfrm>
              <a:off x="5336514" y="5151103"/>
              <a:ext cx="4728443" cy="532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ECEEF1"/>
                  </a:solidFill>
                  <a:latin typeface="Calibri"/>
                  <a:ea typeface="Calibri"/>
                  <a:cs typeface="Calibri"/>
                </a:rPr>
                <a:t>“The fleet is down to 11,000 cabs — re-plan.”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3291215B-640E-5D0C-ADD3-B454CA613C14}"/>
                </a:ext>
              </a:extLst>
            </p:cNvPr>
            <p:cNvSpPr/>
            <p:nvPr/>
          </p:nvSpPr>
          <p:spPr>
            <a:xfrm>
              <a:off x="4822553" y="5784634"/>
              <a:ext cx="5396593" cy="532166"/>
            </a:xfrm>
            <a:prstGeom prst="roundRect">
              <a:avLst>
                <a:gd name="adj" fmla="val 9524"/>
              </a:avLst>
            </a:prstGeom>
            <a:solidFill>
              <a:srgbClr val="262B33"/>
            </a:solidFill>
            <a:ln w="12700">
              <a:solidFill>
                <a:srgbClr val="333944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EAD0C8F8-3BBA-E34F-4566-68F7F3C52FB9}"/>
                </a:ext>
              </a:extLst>
            </p:cNvPr>
            <p:cNvSpPr/>
            <p:nvPr/>
          </p:nvSpPr>
          <p:spPr>
            <a:xfrm>
              <a:off x="5336514" y="5784634"/>
              <a:ext cx="4728443" cy="532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ECEEF1"/>
                  </a:solidFill>
                  <a:latin typeface="Calibri"/>
                  <a:ea typeface="Calibri"/>
                  <a:cs typeface="Calibri"/>
                </a:rPr>
                <a:t>“What changes if rain doubles downtown demand?”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4" name="Text 7">
              <a:extLst>
                <a:ext uri="{FF2B5EF4-FFF2-40B4-BE49-F238E27FC236}">
                  <a16:creationId xmlns:a16="http://schemas.microsoft.com/office/drawing/2014/main" id="{712F8FEF-E9CD-3E79-99F7-9BF899FA135B}"/>
                </a:ext>
              </a:extLst>
            </p:cNvPr>
            <p:cNvSpPr/>
            <p:nvPr/>
          </p:nvSpPr>
          <p:spPr>
            <a:xfrm>
              <a:off x="4951043" y="5176444"/>
              <a:ext cx="359773" cy="4561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”</a:t>
              </a:r>
              <a:endParaRPr lang="en-US" sz="4400"/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657C6745-1325-4F77-7476-15FE83FC88AD}"/>
                </a:ext>
              </a:extLst>
            </p:cNvPr>
            <p:cNvSpPr/>
            <p:nvPr/>
          </p:nvSpPr>
          <p:spPr>
            <a:xfrm>
              <a:off x="4951043" y="5809975"/>
              <a:ext cx="359773" cy="4561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>
                  <a:solidFill>
                    <a:srgbClr val="F5B4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”</a:t>
              </a:r>
              <a:endParaRPr lang="en-US" sz="440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" y="576072"/>
            <a:ext cx="128016" cy="128016"/>
          </a:xfrm>
          <a:prstGeom prst="rect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40">
                <a:solidFill>
                  <a:srgbClr val="F0A828"/>
                </a:solidFill>
                <a:latin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416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800" b="1">
                <a:solidFill>
                  <a:srgbClr val="F2F3F5"/>
                </a:solidFill>
                <a:latin typeface="Calibri"/>
              </a:rPr>
              <a:t>One config change re-runs everything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5CAD3"/>
                </a:solidFill>
                <a:latin typeface="Calibri"/>
              </a:rPr>
              <a:t>The optimization engine is config-driven; the agent only ever edits that config — it never touches the solver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148840"/>
            <a:ext cx="5440680" cy="2880360"/>
          </a:xfrm>
          <a:prstGeom prst="roundRect">
            <a:avLst>
              <a:gd name="adj" fmla="val 7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0976" y="2514600"/>
            <a:ext cx="365760" cy="365760"/>
          </a:xfrm>
          <a:prstGeom prst="ellipse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6181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5"/>
                </a:solidFill>
                <a:latin typeface="Calibri"/>
              </a:rPr>
              <a:t>Config-driven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54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Every stage reads one OptimizationConfig — fleet size, cost multipliers, floors &amp; caps, solver, target slot — then runs in sequence: clean, build the zone × slot panel, apply the demand proxy, split, estimate costs, solve, and round to q*.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43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A828"/>
                </a:solidFill>
                <a:latin typeface="Calibri"/>
              </a:rPr>
              <a:t>Models A / B / C are just config modes — flat Co, borough Co, elastic 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148840"/>
            <a:ext cx="5440680" cy="2880360"/>
          </a:xfrm>
          <a:prstGeom prst="roundRect">
            <a:avLst>
              <a:gd name="adj" fmla="val 7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514600"/>
            <a:ext cx="365760" cy="365760"/>
          </a:xfrm>
          <a:prstGeom prst="ellipse">
            <a:avLst/>
          </a:prstGeom>
          <a:solidFill>
            <a:srgbClr val="F0A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6181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514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2F3F5"/>
                </a:solidFill>
                <a:latin typeface="Calibri"/>
              </a:rPr>
              <a:t>The LLM stays out of the math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5CAD3"/>
                </a:solidFill>
                <a:latin typeface="Calibri"/>
              </a:rPr>
              <a:t>A LangGraph workflow turns plain language into a ConfigPatch, validates it against the floors and caps, then calls the engine. The tool boundary merges the patch into the config; the model never touches the optimization. Shipped as a Streamlit app — Presentation, Agent Chat, and Results &amp; Config tabs.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0A828"/>
                </a:solidFill>
                <a:latin typeface="Calibri"/>
              </a:rPr>
              <a:t>Intent  →  ConfigPatch  →  validate  →  run  →  audited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5349240"/>
            <a:ext cx="10981944" cy="777240"/>
          </a:xfrm>
          <a:prstGeom prst="roundRect">
            <a:avLst>
              <a:gd name="adj" fmla="val 18000"/>
            </a:avLst>
          </a:prstGeom>
          <a:solidFill>
            <a:srgbClr val="23262E"/>
          </a:solidFill>
          <a:ln w="12700">
            <a:solidFill>
              <a:srgbClr val="2F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5349240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0A828"/>
                </a:solidFill>
                <a:latin typeface="Calibri"/>
              </a:rPr>
              <a:t>Reproducibility: </a:t>
            </a:r>
            <a:r>
              <a:rPr sz="1300" b="0" i="0">
                <a:solidFill>
                  <a:srgbClr val="C5CAD3"/>
                </a:solidFill>
                <a:latin typeface="Calibri"/>
              </a:rPr>
              <a:t>change one field — a borough multiplier or the fleet flag — and the whole pipeline re-runs end to end. That is exactly how Task 1 and Task 2 were absorbed, with no code edits.</a:t>
            </a:r>
          </a:p>
        </p:txBody>
      </p:sp>
    </p:spTree>
    <p:extLst>
      <p:ext uri="{BB962C8B-B14F-4D97-AF65-F5344CB8AC3E}">
        <p14:creationId xmlns:p14="http://schemas.microsoft.com/office/powerpoint/2010/main" val="890675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5256" y="502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doesn’t do yet — and what’s next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E2128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SCOPE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single-period — no repositioning within a slot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deployment is a rounding heuristic, no MIP certificate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proxied, never observed ground truth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Decision-focused track uses an approximate gradient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fixed from training weeks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6199632" y="21945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262B33"/>
          </a:solidFill>
          <a:ln w="12700">
            <a:solidFill>
              <a:srgbClr val="333944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73952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Multi-period dynamics with repositioning and travel time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MIP for optimal integer deployment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Rolling, per-season cost re-estimation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decision-focused loss with the solver in the loop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weather what-if path to re-predict demand</a:t>
            </a:r>
            <a:endParaRPr lang="en-US" sz="14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182880" cy="18288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15568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03  ·  NYC YELLOW-TAXI FLEET ALLOCATION AGENT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804672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forecast to a decision the operator can defend.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auditable, conversational fleet-positioning agent — every cab placement traces back to a per-zone underage and overage cost a manager can interrogate.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3339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Nguyen</a:t>
            </a:r>
            <a:r>
              <a:rPr lang="en-US" sz="1350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formulation   </a:t>
            </a:r>
            <a:r>
              <a:rPr lang="en-US" sz="135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Deniz Nemli</a:t>
            </a:r>
            <a:r>
              <a:rPr lang="en-US" sz="1350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&amp; prep   </a:t>
            </a:r>
            <a:r>
              <a:rPr lang="en-US" sz="135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Bhatt</a:t>
            </a:r>
            <a:r>
              <a:rPr lang="en-US" sz="1350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prediction   </a:t>
            </a:r>
            <a:r>
              <a:rPr lang="en-US" sz="1350" b="1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Kang</a:t>
            </a:r>
            <a:r>
              <a:rPr lang="en-US" sz="1350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optimization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assisted with code scaffolding, drafting, and editing; all modeling and interpretation are the team’s own.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2320</Words>
  <Application>Microsoft Office PowerPoint</Application>
  <PresentationFormat>Widescreen</PresentationFormat>
  <Paragraphs>315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Yellow-Taxi Fleet Allocation Agent</dc:title>
  <dc:subject>PptxGenJS Presentation</dc:subject>
  <dc:creator>Team 03</dc:creator>
  <cp:lastModifiedBy>John Smith</cp:lastModifiedBy>
  <cp:revision>2</cp:revision>
  <dcterms:created xsi:type="dcterms:W3CDTF">2026-06-08T19:28:39Z</dcterms:created>
  <dcterms:modified xsi:type="dcterms:W3CDTF">2026-06-11T15:23:38Z</dcterms:modified>
</cp:coreProperties>
</file>